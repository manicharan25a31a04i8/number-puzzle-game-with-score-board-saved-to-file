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oper BT Light" charset="1" panose="0208050304030B020404"/>
      <p:regular r:id="rId16"/>
    </p:embeddedFont>
    <p:embeddedFont>
      <p:font typeface="Cooper BT Medium" charset="1" panose="0208060305030B020404"/>
      <p:regular r:id="rId17"/>
    </p:embeddedFont>
    <p:embeddedFont>
      <p:font typeface="TT Interphases" charset="1" panose="02000503020000020004"/>
      <p:regular r:id="rId18"/>
    </p:embeddedFont>
    <p:embeddedFont>
      <p:font typeface="Cooper BT Bold" charset="1" panose="0208080404030B020404"/>
      <p:regular r:id="rId19"/>
    </p:embeddedFont>
    <p:embeddedFont>
      <p:font typeface="Open Sans" charset="1" panose="020B0606030504020204"/>
      <p:regular r:id="rId20"/>
    </p:embeddedFont>
    <p:embeddedFont>
      <p:font typeface="Open Sans Bold" charset="1" panose="020B0806030504020204"/>
      <p:regular r:id="rId21"/>
    </p:embeddedFont>
    <p:embeddedFont>
      <p:font typeface="TT Interphases Bold" charset="1" panose="0200080306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61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9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4696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122" y="6934200"/>
            <a:ext cx="9049034" cy="2712720"/>
            <a:chOff x="0" y="0"/>
            <a:chExt cx="2383285" cy="71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3285" cy="714461"/>
            </a:xfrm>
            <a:custGeom>
              <a:avLst/>
              <a:gdLst/>
              <a:ahLst/>
              <a:cxnLst/>
              <a:rect r="r" b="b" t="t" l="l"/>
              <a:pathLst>
                <a:path h="714461" w="2383285">
                  <a:moveTo>
                    <a:pt x="34222" y="0"/>
                  </a:moveTo>
                  <a:lnTo>
                    <a:pt x="2349063" y="0"/>
                  </a:lnTo>
                  <a:cubicBezTo>
                    <a:pt x="2358139" y="0"/>
                    <a:pt x="2366844" y="3606"/>
                    <a:pt x="2373261" y="10023"/>
                  </a:cubicBezTo>
                  <a:cubicBezTo>
                    <a:pt x="2379679" y="16441"/>
                    <a:pt x="2383285" y="25146"/>
                    <a:pt x="2383285" y="34222"/>
                  </a:cubicBezTo>
                  <a:lnTo>
                    <a:pt x="2383285" y="680239"/>
                  </a:lnTo>
                  <a:cubicBezTo>
                    <a:pt x="2383285" y="699139"/>
                    <a:pt x="2367963" y="714461"/>
                    <a:pt x="2349063" y="714461"/>
                  </a:cubicBezTo>
                  <a:lnTo>
                    <a:pt x="34222" y="714461"/>
                  </a:lnTo>
                  <a:cubicBezTo>
                    <a:pt x="15322" y="714461"/>
                    <a:pt x="0" y="699139"/>
                    <a:pt x="0" y="680239"/>
                  </a:cubicBezTo>
                  <a:lnTo>
                    <a:pt x="0" y="34222"/>
                  </a:lnTo>
                  <a:cubicBezTo>
                    <a:pt x="0" y="15322"/>
                    <a:pt x="15322" y="0"/>
                    <a:pt x="34222" y="0"/>
                  </a:cubicBezTo>
                  <a:close/>
                </a:path>
              </a:pathLst>
            </a:custGeom>
            <a:solidFill>
              <a:srgbClr val="3461A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383285" cy="743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0122" y="666750"/>
            <a:ext cx="9075194" cy="5956430"/>
            <a:chOff x="0" y="0"/>
            <a:chExt cx="123837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8379" cy="812800"/>
            </a:xfrm>
            <a:custGeom>
              <a:avLst/>
              <a:gdLst/>
              <a:ahLst/>
              <a:cxnLst/>
              <a:rect r="r" b="b" t="t" l="l"/>
              <a:pathLst>
                <a:path h="812800" w="1238379">
                  <a:moveTo>
                    <a:pt x="34123" y="0"/>
                  </a:moveTo>
                  <a:lnTo>
                    <a:pt x="1204256" y="0"/>
                  </a:lnTo>
                  <a:cubicBezTo>
                    <a:pt x="1223101" y="0"/>
                    <a:pt x="1238379" y="15278"/>
                    <a:pt x="1238379" y="34123"/>
                  </a:cubicBezTo>
                  <a:lnTo>
                    <a:pt x="1238379" y="778677"/>
                  </a:lnTo>
                  <a:cubicBezTo>
                    <a:pt x="1238379" y="797522"/>
                    <a:pt x="1223101" y="812800"/>
                    <a:pt x="1204256" y="812800"/>
                  </a:cubicBezTo>
                  <a:lnTo>
                    <a:pt x="34123" y="812800"/>
                  </a:lnTo>
                  <a:cubicBezTo>
                    <a:pt x="15278" y="812800"/>
                    <a:pt x="0" y="797522"/>
                    <a:pt x="0" y="778677"/>
                  </a:cubicBezTo>
                  <a:lnTo>
                    <a:pt x="0" y="34123"/>
                  </a:lnTo>
                  <a:cubicBezTo>
                    <a:pt x="0" y="15278"/>
                    <a:pt x="15278" y="0"/>
                    <a:pt x="34123" y="0"/>
                  </a:cubicBezTo>
                  <a:close/>
                </a:path>
              </a:pathLst>
            </a:custGeom>
            <a:blipFill>
              <a:blip r:embed="rId2"/>
              <a:stretch>
                <a:fillRect l="-390" t="0" r="-39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6750" y="838200"/>
            <a:ext cx="6886575" cy="32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Welcome to the Number Puzzle Game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96400" y="7454265"/>
            <a:ext cx="7245717" cy="1253490"/>
            <a:chOff x="0" y="0"/>
            <a:chExt cx="9660955" cy="16713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9660955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DBE9F4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Number Puzzle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36650"/>
              <a:ext cx="9660955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Engage your mind with this fun number challenge!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461A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461A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28675"/>
            <a:ext cx="14077950" cy="216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3"/>
              </a:lnSpc>
              <a:spcBef>
                <a:spcPct val="0"/>
              </a:spcBef>
            </a:pPr>
            <a:r>
              <a:rPr lang="en-US" sz="8393" spc="-167" strike="noStrike" u="none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Introduction: Saving Game Progress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2817421"/>
            <a:chOff x="0" y="0"/>
            <a:chExt cx="7670800" cy="37565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file save mechanism allows players to store their game progress, ensuring they can continue from where they left off, enhancing user experience and engagement significantly.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76708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DBE9F4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File Save Mechanism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3207946"/>
            <a:chOff x="0" y="0"/>
            <a:chExt cx="7607012" cy="42772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Data persistence enables the game to remember user stats and settings over sessions, saving essential information securely and allowing for a seamless gameplay experience whenever players return.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7607012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DBE9F4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Data Persistence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827145"/>
            <a:chOff x="0" y="0"/>
            <a:chExt cx="11099800" cy="51028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Understanding the core mechanics of the number puzzle game is essential for players to engage effectively and enhance their gameplay experience while strategizing for high scores.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DBE9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Game Mechanics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9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0931" y="2591827"/>
            <a:ext cx="6348393" cy="7094378"/>
          </a:xfrm>
          <a:custGeom>
            <a:avLst/>
            <a:gdLst/>
            <a:ahLst/>
            <a:cxnLst/>
            <a:rect r="r" b="b" t="t" l="l"/>
            <a:pathLst>
              <a:path h="7094378" w="6348393">
                <a:moveTo>
                  <a:pt x="0" y="0"/>
                </a:moveTo>
                <a:lnTo>
                  <a:pt x="6348393" y="0"/>
                </a:lnTo>
                <a:lnTo>
                  <a:pt x="6348393" y="7094378"/>
                </a:lnTo>
                <a:lnTo>
                  <a:pt x="0" y="7094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1" t="-8850" r="-86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43877"/>
            <a:ext cx="1151647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sz="849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Code Explanation: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36846" y="2745965"/>
            <a:ext cx="7422454" cy="634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rand() function is used to generate the puzzle number.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loop allows multiple attempts.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number of attempts is counted as the player’s score.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Fewer attempts = better score.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Concepts Used: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Loops (while)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Conditional statements (if-else)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Random number generation</a:t>
            </a:r>
          </a:p>
          <a:p>
            <a:pPr algn="l" marL="0" indent="0" lvl="1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input/output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33" t="0" r="333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662601" y="4050030"/>
            <a:ext cx="5532090" cy="520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Improves logical thinking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Enhances programming skills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Permanent score storage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Introduction to file handling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Increases user engagement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Simple and easy to implement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Real-world application relevance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expandability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Useful for lab exams and viva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Builds coding confidence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2601" y="2564493"/>
            <a:ext cx="6282681" cy="110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7"/>
              </a:lnSpc>
              <a:spcBef>
                <a:spcPct val="0"/>
              </a:spcBef>
            </a:pPr>
            <a:r>
              <a:rPr lang="en-US" b="true" sz="72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Advantages: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5143500"/>
            <a:ext cx="544830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519"/>
              </a:lnSpc>
            </a:pPr>
            <a:r>
              <a:rPr lang="en-US" sz="9600" spc="-480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65%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5025" y="5143500"/>
            <a:ext cx="544830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19"/>
              </a:lnSpc>
            </a:pPr>
            <a:r>
              <a:rPr lang="en-US" sz="9600" spc="-480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85%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4077950" cy="3046149"/>
            <a:chOff x="0" y="0"/>
            <a:chExt cx="18770600" cy="406153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87706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DBE9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High Score Achievement Statistics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43372"/>
              <a:ext cx="187706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DBE9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Tracking Player Success in the Game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6886575" cy="1031014"/>
            <a:chOff x="0" y="0"/>
            <a:chExt cx="9182100" cy="13746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DBE9F4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Players Achieving High Scores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54346"/>
              <a:ext cx="9182100" cy="5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-47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percentage reflects top player performance.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7829550"/>
            <a:ext cx="6886575" cy="1031014"/>
            <a:chOff x="0" y="0"/>
            <a:chExt cx="9182100" cy="137468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DBE9F4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Average Score of Players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54346"/>
              <a:ext cx="9182100" cy="5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-47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Indicates the typical score achieved by players.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true" flipV="false" rot="9828254">
            <a:off x="-696564" y="7785594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6"/>
                </a:lnTo>
                <a:lnTo>
                  <a:pt x="1876083" y="1497456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61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leaderboard showcases players' </a:t>
              </a:r>
              <a:r>
                <a:rPr lang="en-US" b="true" sz="2400" spc="-48" strike="noStrike" u="none">
                  <a:solidFill>
                    <a:srgbClr val="DBE9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achievements and rankings</a:t>
              </a:r>
              <a:r>
                <a:rPr lang="en-US" sz="2400" spc="-48" strike="noStrike" u="none">
                  <a:solidFill>
                    <a:srgbClr val="DBE9F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providing motivation and fostering competition among users. It efficiently lists scores and players, enhancing the gaming experience.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DBE9F4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Displaying the Leaderboard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9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917" y="838200"/>
            <a:ext cx="14055058" cy="219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Code Explanation: Input Validation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461A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461A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461A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6009427"/>
            <a:ext cx="40100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DBE9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Validating input also protects the game from malicious inputs, ensuring data integrity and security by rejecting harmful data that could disrupt normal operations or exploit vulnerabilities.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DBE9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Data Security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6009373"/>
            <a:ext cx="39719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DBE9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Implementing robust error handling alerts users to invalid entries with clear messages, guiding them to correct mistakes and enhancing overall user experience and engagement in the game.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14979"/>
            <a:ext cx="39719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DBE9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Error Handling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6009427"/>
            <a:ext cx="40100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DBE9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Input validation ensures the user enters valid data, preventing errors and maintaining game stability by checking for acceptable formats and value ranges before proceeding.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DBE9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User Input Checks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61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917" y="838200"/>
            <a:ext cx="14055058" cy="219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Saving High Scores in the Game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2E6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2E6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2E6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6009427"/>
            <a:ext cx="40100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DBE9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Robust error handling is implemented during the file save process, ensuring that any issues are logged and communicated to the user. This maintains a smooth gaming experience and user trust.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DBE9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Error Handling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6399898"/>
            <a:ext cx="3971925" cy="234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DBE9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High scores are serialized into a format that can be easily written to files, typically using JSON or CSV. This process allows for efficient storage and retrieval of player statistics.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14979"/>
            <a:ext cx="39719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DBE9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Data Serialization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6009427"/>
            <a:ext cx="40100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DBE9F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game saves high scores using a structured file format, ensuring data integrity and easy access. A consistent naming convention facilitates organized retrieval of player information.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DBE9F4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File Structure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9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8324850" cy="32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</a:p>
          <a:p>
            <a:pPr algn="l">
              <a:lnSpc>
                <a:spcPts val="8499"/>
              </a:lnSpc>
            </a:pPr>
          </a:p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>
                <a:solidFill>
                  <a:srgbClr val="DBE9F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986143"/>
            <a:ext cx="8324850" cy="2066925"/>
            <a:chOff x="0" y="0"/>
            <a:chExt cx="11099800" cy="2755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 spc="-48" b="true">
                  <a:solidFill>
                    <a:srgbClr val="DBE9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V.Girija madhuri-25A31A04F7</a:t>
              </a:r>
            </a:p>
            <a:p>
              <a:pPr algn="l">
                <a:lnSpc>
                  <a:spcPts val="3120"/>
                </a:lnSpc>
              </a:pPr>
              <a:r>
                <a:rPr lang="en-US" sz="2400" spc="-48" b="true">
                  <a:solidFill>
                    <a:srgbClr val="DBE9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Y.Abhila priya-25A31A04F8</a:t>
              </a:r>
            </a:p>
            <a:p>
              <a:pPr algn="l">
                <a:lnSpc>
                  <a:spcPts val="3120"/>
                </a:lnSpc>
              </a:pPr>
              <a:r>
                <a:rPr lang="en-US" sz="2400" spc="-48" b="true">
                  <a:solidFill>
                    <a:srgbClr val="DBE9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R.Janaki mani charan-25A31A04I8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>
                  <a:solidFill>
                    <a:srgbClr val="DBE9F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S.Siva sai sriram-25A31A04I9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2377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DAG8PawBHNo</dc:identifier>
  <dcterms:modified xsi:type="dcterms:W3CDTF">2011-08-01T06:04:30Z</dcterms:modified>
  <cp:revision>1</cp:revision>
  <dc:title>Thank you!</dc:title>
</cp:coreProperties>
</file>